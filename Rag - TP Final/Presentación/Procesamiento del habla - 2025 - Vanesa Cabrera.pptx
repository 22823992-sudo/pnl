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Alfa Slab On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1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1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5ad0697f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a5ad0697f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5ad0697f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5ad0697f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5ad0697fd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5ad0697f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5ad0697fd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5ad0697f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5ad0697f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5ad0697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jpg"/><Relationship Id="rId5" Type="http://schemas.openxmlformats.org/officeDocument/2006/relationships/hyperlink" Target="https://consultorpsicologico.streamlit.app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loom.com/share/cc69ae1a261440208eca4254500f8b67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Procesamiento del Habla</a:t>
            </a:r>
            <a:endParaRPr sz="4800">
              <a:solidFill>
                <a:srgbClr val="3D85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2266175"/>
            <a:ext cx="8520600" cy="22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3D85C6"/>
                </a:solidFill>
              </a:rPr>
              <a:t>Portfolio de trabajos 2025</a:t>
            </a:r>
            <a:endParaRPr b="1">
              <a:solidFill>
                <a:srgbClr val="3D85C6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3D85C6"/>
                </a:solidFill>
              </a:rPr>
              <a:t>Profesor: Matías Barreto</a:t>
            </a:r>
            <a:endParaRPr b="1">
              <a:solidFill>
                <a:srgbClr val="3D85C6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3D85C6"/>
                </a:solidFill>
              </a:rPr>
              <a:t>Estudiante: Vanesa Cabrera</a:t>
            </a:r>
            <a:endParaRPr b="1">
              <a:solidFill>
                <a:srgbClr val="3D85C6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>
                <a:solidFill>
                  <a:srgbClr val="3D85C6"/>
                </a:solidFill>
              </a:rPr>
              <a:t>IFTS24 - Ciencias de Datos e Inteligencia Artificial</a:t>
            </a:r>
            <a:endParaRPr b="1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492800" y="113100"/>
            <a:ext cx="54477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s-419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Análisis NLP de Rock Nacional</a:t>
            </a:r>
            <a:r>
              <a:rPr b="1" lang="es-419" sz="2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232250" y="863400"/>
            <a:ext cx="4806300" cy="4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●"/>
            </a:pPr>
            <a:r>
              <a:rPr lang="es-419" sz="1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Corpus: 37 canciones de Soda Stereo.</a:t>
            </a:r>
            <a:endParaRPr sz="14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●"/>
            </a:pPr>
            <a:r>
              <a:rPr lang="es-419" sz="1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 Proceso: Limpieza del texto, lematización, eliminación de stopwords, análisis de vocabulario y estudio de similitudes semánticas entre canciones.</a:t>
            </a:r>
            <a:endParaRPr sz="14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●"/>
            </a:pPr>
            <a:r>
              <a:rPr lang="es-419" sz="1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Insights: alta </a:t>
            </a:r>
            <a:r>
              <a:rPr lang="es-419" sz="1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riqueza lingüística (reducción léxico en un 23.4%)</a:t>
            </a:r>
            <a:endParaRPr sz="14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●"/>
            </a:pPr>
            <a:r>
              <a:rPr lang="es-419" sz="1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Alta similitud entre canciones (≥0.96), </a:t>
            </a:r>
            <a:endParaRPr sz="14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Roboto"/>
              <a:buChar char="●"/>
            </a:pPr>
            <a:r>
              <a:rPr lang="es-419" sz="14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Formación de clúster temáticos consistentes  (amor, tiempo, cuerpo, y sensaciones).</a:t>
            </a:r>
            <a:endParaRPr sz="1400">
              <a:solidFill>
                <a:srgbClr val="0B5394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329675" cy="282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66400"/>
            <a:ext cx="3329675" cy="237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579800" y="0"/>
            <a:ext cx="52524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Trabajo Práctico</a:t>
            </a:r>
            <a:endParaRPr>
              <a:solidFill>
                <a:srgbClr val="3D85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891800" y="602425"/>
            <a:ext cx="5252400" cy="45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Roboto"/>
              <a:buChar char="●"/>
            </a:pPr>
            <a:r>
              <a:rPr b="1" lang="es-419" sz="14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Modelo de análisis de sentimiento HF Transformer (distilbert-base-uncased-finetuned-sst-2-english)</a:t>
            </a:r>
            <a:endParaRPr b="1" sz="14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Roboto"/>
              <a:buChar char="●"/>
            </a:pPr>
            <a:r>
              <a:rPr b="1" lang="es-419" sz="14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Tokenización con Tokenizers de HF</a:t>
            </a:r>
            <a:endParaRPr b="1" sz="14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Roboto"/>
              <a:buChar char="●"/>
            </a:pPr>
            <a:r>
              <a:rPr b="1" lang="es-419" sz="14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Reconocimiento de entidades nombradas (NER) - mrm8488/bert-spanish-cased-finetuned-ner para extracción de CVs</a:t>
            </a:r>
            <a:endParaRPr b="1" sz="14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Roboto"/>
              <a:buChar char="●"/>
            </a:pPr>
            <a:r>
              <a:rPr b="1" lang="es-419" sz="14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Modelo de Q/A - deepset/roberta-base-squad2</a:t>
            </a:r>
            <a:endParaRPr b="1" sz="14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Roboto"/>
              <a:buChar char="●"/>
            </a:pPr>
            <a:r>
              <a:rPr b="1" lang="es-419" sz="14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Limitaciones a la hora de analizar ironía y sarcasmo o modismos locales del lenguaje. </a:t>
            </a:r>
            <a:endParaRPr b="1" sz="14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Roboto"/>
              <a:buChar char="●"/>
            </a:pPr>
            <a:r>
              <a:rPr b="1" lang="es-419" sz="14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NER, presenta fallas para detectar entidades específicas, nombres poco comunes o marcas poco conocidas.</a:t>
            </a:r>
            <a:endParaRPr b="1" sz="14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8918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6908" l="11886" r="0" t="7584"/>
          <a:stretch/>
        </p:blipFill>
        <p:spPr>
          <a:xfrm>
            <a:off x="0" y="2816400"/>
            <a:ext cx="4514976" cy="23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10002604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514974" cy="28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4623700" y="4560650"/>
            <a:ext cx="1044000" cy="52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991675" y="45606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u="sng">
                <a:solidFill>
                  <a:srgbClr val="1155CC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https://consultorpsicologico.streamlit.app/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4514975" y="0"/>
            <a:ext cx="46290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solidFill>
                  <a:srgbClr val="0B5394"/>
                </a:solidFill>
              </a:rPr>
              <a:t>Sistema RAG con Gemini</a:t>
            </a:r>
            <a:endParaRPr b="1" sz="24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0B5394"/>
                </a:solidFill>
              </a:rPr>
              <a:t>Este proyecto implementa un sistema RAG (Retrieval-Augmented Generation) utilizando:</a:t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s-419" sz="1200">
                <a:solidFill>
                  <a:srgbClr val="0B5394"/>
                </a:solidFill>
              </a:rPr>
              <a:t>Google Gemini 2.5 Flash como modelo generativo</a:t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s-419" sz="1200">
                <a:solidFill>
                  <a:srgbClr val="0B5394"/>
                </a:solidFill>
              </a:rPr>
              <a:t>ChromaDB como base de datos vectorial persistente</a:t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s-419" sz="1200">
                <a:solidFill>
                  <a:srgbClr val="0B5394"/>
                </a:solidFill>
              </a:rPr>
              <a:t>Sentence Transformers (HuggingFace) para generar embeddings</a:t>
            </a:r>
            <a:endParaRPr b="1" sz="1200">
              <a:solidFill>
                <a:srgbClr val="0B5394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200"/>
              <a:buChar char="●"/>
            </a:pPr>
            <a:r>
              <a:rPr b="1" lang="es-419" sz="1200">
                <a:solidFill>
                  <a:srgbClr val="0B5394"/>
                </a:solidFill>
              </a:rPr>
              <a:t>Streamlit como interfaz web</a:t>
            </a:r>
            <a:endParaRPr b="1" sz="12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>
                <a:solidFill>
                  <a:srgbClr val="0B5394"/>
                </a:solidFill>
              </a:rPr>
              <a:t>El objetivo es permitir al usuario realizar preguntas y obtener respuestas basadas exclusivamente en la información contenida en los documentos cargados.</a:t>
            </a:r>
            <a:endParaRPr b="1" sz="175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200">
                <a:solidFill>
                  <a:srgbClr val="0B5394"/>
                </a:solidFill>
              </a:rPr>
              <a:t>El sistema utiliza embeddings + Chroma para encontrar los fragmentos más relevantes en los documentos.</a:t>
            </a:r>
            <a:endParaRPr b="1" sz="12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56600"/>
            <a:ext cx="8520600" cy="9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</a:rPr>
              <a:t>Demo del Sistema Rag</a:t>
            </a:r>
            <a:endParaRPr sz="4800">
              <a:solidFill>
                <a:srgbClr val="1155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1557175" y="1428875"/>
            <a:ext cx="6307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1155CC"/>
                </a:solidFill>
              </a:rPr>
              <a:t>Qué vas a ver?</a:t>
            </a:r>
            <a:endParaRPr>
              <a:solidFill>
                <a:srgbClr val="1155CC"/>
              </a:solidFill>
            </a:endParaRPr>
          </a:p>
          <a:p>
            <a:pPr indent="-342900" lvl="0" marL="457200" rtl="0" algn="ctr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1155CC"/>
              </a:buClr>
              <a:buSzPts val="1800"/>
              <a:buChar char="●"/>
            </a:pPr>
            <a:r>
              <a:rPr lang="es-419">
                <a:solidFill>
                  <a:srgbClr val="1155CC"/>
                </a:solidFill>
              </a:rPr>
              <a:t>Interfaz Streamlit</a:t>
            </a:r>
            <a:endParaRPr>
              <a:solidFill>
                <a:srgbClr val="1155CC"/>
              </a:solidFill>
            </a:endParaRPr>
          </a:p>
          <a:p>
            <a:pPr indent="-34290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Char char="●"/>
            </a:pPr>
            <a:r>
              <a:rPr lang="es-419">
                <a:solidFill>
                  <a:srgbClr val="1155CC"/>
                </a:solidFill>
              </a:rPr>
              <a:t>Consulta en vivo</a:t>
            </a:r>
            <a:endParaRPr>
              <a:solidFill>
                <a:srgbClr val="1155CC"/>
              </a:solidFill>
            </a:endParaRPr>
          </a:p>
          <a:p>
            <a:pPr indent="-34290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800"/>
              <a:buChar char="●"/>
            </a:pPr>
            <a:r>
              <a:rPr lang="es-419">
                <a:solidFill>
                  <a:srgbClr val="1155CC"/>
                </a:solidFill>
              </a:rPr>
              <a:t>Respuesta con fuentes citadas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20425" y="4158300"/>
            <a:ext cx="1044000" cy="52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7"/>
          <p:cNvSpPr txBox="1"/>
          <p:nvPr/>
        </p:nvSpPr>
        <p:spPr>
          <a:xfrm flipH="1" rot="-351">
            <a:off x="2634057" y="4112310"/>
            <a:ext cx="294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https://www.loom.com/share/cc69ae1a261440208eca4254500f8b67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